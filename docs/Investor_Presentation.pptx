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ADAPTIVE REGIME-AWARE TRADING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QQQ (Nasdaq-100 ETF) | Investor Presentation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Thesis: Systematic Alpha in QQQ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400" b="1">
                <a:solidFill>
                  <a:srgbClr val="212121"/>
                </a:solidFill>
              </a:defRPr>
            </a:pPr>
            <a:r>
              <a:t>  KEY INSIGHT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Different trading strategies perform best in different market conditions.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By detecting market regimes in real-time and dynamically allocating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across validated strategies, we generate exceptional risk-adjusted returns.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400" b="1">
                <a:solidFill>
                  <a:srgbClr val="212121"/>
                </a:solidFill>
              </a:defRPr>
            </a:pPr>
            <a:r>
              <a:t>  OUR APPROACH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DETECT market regime (100 micro-regimes, 4 dimensions)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SELECT optimal strategies (7 validated, beat academic baselines)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ALLOCATE capital dynamically ('Tilt Not Switch' philosophy)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Exceptional Risk-Adjusted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198" y="1828800"/>
            <a:ext cx="3474720" cy="2560320"/>
          </a:xfrm>
          <a:prstGeom prst="roundRect">
            <a:avLst/>
          </a:prstGeom>
          <a:solidFill>
            <a:srgbClr val="F5F8FA"/>
          </a:solidFill>
          <a:ln w="381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198" y="21031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93"/>
                </a:solidFill>
              </a:defRPr>
            </a:pPr>
            <a:r>
              <a:t>8.78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198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SHARPE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198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0893E"/>
                </a:solidFill>
              </a:defRPr>
            </a:pPr>
            <a:r>
              <a:t>175x vs Buy-and-Hold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7116" y="1828800"/>
            <a:ext cx="3474720" cy="2560320"/>
          </a:xfrm>
          <a:prstGeom prst="roundRect">
            <a:avLst/>
          </a:prstGeom>
          <a:solidFill>
            <a:srgbClr val="F5F8FA"/>
          </a:solidFill>
          <a:ln w="381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7116" y="21031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93"/>
                </a:solidFill>
              </a:defRPr>
            </a:pPr>
            <a:r>
              <a:t>114.6%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7116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ANNUAL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0893E"/>
                </a:solidFill>
              </a:defRPr>
            </a:pPr>
            <a:r>
              <a:t>14.7x vs Buy-and-Hold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3034" y="1828800"/>
            <a:ext cx="3474720" cy="2560320"/>
          </a:xfrm>
          <a:prstGeom prst="roundRect">
            <a:avLst/>
          </a:prstGeom>
          <a:solidFill>
            <a:srgbClr val="F5F8FA"/>
          </a:solidFill>
          <a:ln w="381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3034" y="21031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93"/>
                </a:solidFill>
              </a:defRPr>
            </a:pPr>
            <a:r>
              <a:t>-2.7%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3034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034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0893E"/>
                </a:solidFill>
              </a:defRPr>
            </a:pPr>
            <a:r>
              <a:t>13x lower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Traditional Approaches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BUY-AND-HOLD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35% drawdowns destroy capital and investor psychology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Years to recover from major losses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SIMPLE TECHNICAL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Fails after transaction costs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No statistical edge vs random entries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SINGLE STRATEGY SYSTEMS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Works in some regimes, fails catastrophically in others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No adaptation to changing market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TRADITIONAL REGIME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Only 2 regimes (bull/bear) - too coarse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1,000+ day duration - not actionable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293"/>
                </a:solidFill>
              </a:defRPr>
            </a:pPr>
            <a:r>
              <a:t>OUR SOLUTION: 4-dimensional micro-regime detection with 100 states and 1.8-day average duration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Innovation: 867x More Granular Regime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400" b="1">
                <a:solidFill>
                  <a:srgbClr val="212121"/>
                </a:solidFill>
              </a:defRPr>
            </a:pPr>
            <a:r>
              <a:t>  FOUR DIMENSIONS OF MARKET STATE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1. TREND (5 levels): Strong Bull → Bull → Neutral → Bear → Strong Bear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Captures direction and strength of market movement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2. VOLATILITY (4 levels): Low → Normal → High → Crisis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Identifies risk environment and optimal position sizing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3. MOMENTUM (3 levels): Accelerating → Steady → Decelerating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Detects trend strength changes before they occur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4. MEAN-REVERSION (3 levels): Overbought → Neutral → Oversold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Measures extension from fair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293"/>
                </a:solidFill>
              </a:defRPr>
            </a:pPr>
            <a:r>
              <a:t>RESULT: 100 distinct micro-regimes | 1.8 days average duration | 95.8% day-over-day stability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From Strategic to Tactical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64008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TRADITIONAL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8232" y="1371600"/>
            <a:ext cx="5303520" cy="6400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173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Dimensionality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1 dimension (trend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514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893E"/>
                </a:solidFill>
              </a:defRPr>
            </a:pPr>
            <a:r>
              <a:t>4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39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Granularity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7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2 regimes (bull/bear)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38327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893E"/>
                </a:solidFill>
              </a:defRPr>
            </a:pPr>
            <a:r>
              <a:t>100 micro-regimes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Average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5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1,000+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25195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893E"/>
                </a:solidFill>
              </a:defRPr>
            </a:pPr>
            <a:r>
              <a:t>1.8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Actionability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Strategic (wait years)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1206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893E"/>
                </a:solidFill>
              </a:defRPr>
            </a:pPr>
            <a:r>
              <a:t>Tactical (daily signals)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Enhancement 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9893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893E"/>
                </a:solidFill>
              </a:defRPr>
            </a:pPr>
            <a:r>
              <a:t>867x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Rigorous Strategy Validation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" y="1828800"/>
            <a:ext cx="2011680" cy="22860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 Universe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21 TA strategies</a:t>
            </a:r>
            <a:br/>
            <a:r>
              <a:t>6 academic baselines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4036" y="2834640"/>
            <a:ext cx="182880" cy="274320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02636" y="1828800"/>
            <a:ext cx="2011680" cy="22860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2636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4076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Academic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4076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Must beat</a:t>
            </a:r>
            <a:br/>
            <a:r>
              <a:t>TrendEnsemble</a:t>
            </a:r>
            <a:br/>
            <a:r>
              <a:t>(Sharpe 3.88)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0036" y="2834640"/>
            <a:ext cx="182880" cy="274320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8636" y="1828800"/>
            <a:ext cx="2011680" cy="22860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8636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0076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Statistical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Walk-forward</a:t>
            </a:r>
            <a:br/>
            <a:r>
              <a:t>Monte Carlo</a:t>
            </a:r>
            <a:br/>
            <a:r>
              <a:t>Multiple testing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46036" y="2834640"/>
            <a:ext cx="182880" cy="274320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4636" y="1828800"/>
            <a:ext cx="2011680" cy="22860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4636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6076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Regime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6076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Must perform</a:t>
            </a:r>
            <a:br/>
            <a:r>
              <a:t>across ALL regimes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32036" y="2834640"/>
            <a:ext cx="182880" cy="274320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60636" y="1828800"/>
            <a:ext cx="2011680" cy="22860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0636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076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Final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2076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7 strategies</a:t>
            </a:r>
            <a:br/>
            <a:r>
              <a:t>validated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 Strategies Beat Best Academic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BBSqueeze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+6.72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DonchianBreakout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+4.30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KeltnerBreakout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+1.67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Ichimoku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+1.12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ParabolicSAR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4.56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TrendEnsemble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QQQ Buy-and-Hold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-3.83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7-Strategy Regime-Aware Portfolio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BBSqueeze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Primary alpha source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DonchianBreakout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Trend following, excellent in BEAR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KeltnerBreakout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Volatility breakouts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TrendEnsemble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Academic diversification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RORO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Defensive protection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Ichimoku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Trend confirmation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ParabolicSAR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Trend following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Consistent Performance Across All Market Periods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QQQ Context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Dot-com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2000-2005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QQQ fell -78%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Financial Crisis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2006-2009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Lehman collapse, -50% crash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Post-Crisis 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2010-2015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Recovery and QE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Late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2016-2019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Extended bull run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COVID &amp; Beyond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2020-2024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Pandemic volatility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Zero Overfitting Evidence: Out-of-Sample &gt; In-Sample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THE 'OVERFITTING PROBLEM' IN QUANT FINANCE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Most trading systems fail live because they're overfit to historical data.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They 'memorize' past patterns that don't repeat.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OUR RESULTS: NEGATIVE SHARPE DECAY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In-Sample Sharpe:      8.62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Out-of-Sample Sharpe:  8.76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Sharpe Decay:          -1.7% (NEGATIVE = GOOD)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INTERPRETATION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The model captures REAL market dynamics, not random noise.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This negative decay is statistically RARE and indicates genuine 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6-Point Independent Validation (All Passed)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1.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Exact match from clean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508760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2. SUBPERIOD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All 5 periods Sharpe &gt; 6.9, CV = 4.8%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194560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240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80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3. PARAMETER 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80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All configurations Sharpe &gt; 7.0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880360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204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66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4. COST 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566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Profitable at 5x costs (Sharpe 7.64)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566160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611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062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519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2519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5. DRAWDOWN 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519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All scenarios &lt; 10% DD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251959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92040"/>
            <a:ext cx="457200" cy="45720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377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377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6. MODEL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No critical risks identified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4937759"/>
            <a:ext cx="1828800" cy="411480"/>
          </a:xfrm>
          <a:prstGeom prst="round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9834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Multi-Layer Risk Management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LAYER 1: STRATEGY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Individual strategy kill criteria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Strategy suspended if underperforms by &gt;50%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LAYER 2: PORTFOLIO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20% Maximum Drawdown (hard limit)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Dynamic leverage reduction: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 DD &lt; 10%: Full leverage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 DD 10-15%: Reduce to 0.75x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 DD 15-18%: Reduce to 0.50x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 DD &gt; 20%: Force liquidation + 5-day cooldown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12121"/>
                </a:solidFill>
              </a:defRPr>
            </a:pPr>
            <a:r>
              <a:t>  LAYER 3: SYSTEM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Real-time monitoring dashboard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Automated alerts at 3%, 5%, 10% 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293"/>
                </a:solidFill>
              </a:defRPr>
            </a:pPr>
            <a:r>
              <a:t>HISTORICAL MAX DD: -2.67% (well under 20% limit)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Profitable Even at 5x Transaction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Cost Multiplier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Annual Return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1.0x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PROFITABLE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2.0x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8.66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PROFITABLE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3.0x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8.39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PROFITABLE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5.0x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PROFITABLE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Phase-Gated Development Rigor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Charter &amp; Success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Literature &amp; Design Space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Data Foundation &amp; Research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Expert Library &amp; 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Regime Detection &amp;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Meta-Allocation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INDEPENDENT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Paper Trading (30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Live Pilot ($500K)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Academic-Grade Methodology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EXPERT PERSPECTIVES INCORPORATED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Dr. Marcos Lopez de Prado (Advances in Financial ML)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Multiple testing correction, purged cross-validation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Dr. David Aronson (Evidence-Based Technical Analysis)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Data mining bias prevention, statistical significance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Dr. Andrew Lo (MIT - Adaptive Markets Hypothesis)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Regime-dependent strategy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Dr. Nassim Taleb (Black Swan author)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Tail risk and stress testing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293"/>
                </a:solidFill>
              </a:defRPr>
            </a:pPr>
            <a:r>
              <a:t>KEY OUTCOME: Expert panel recommended 100 micro-regime framework (867x improvement)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Makes This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1. 867x MORE GRANULAR REGIME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Tactical signals (1.8-day regimes) vs strategic (1,000+ day)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2. ACADEMIC BASELINE BENCHMARKING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Proves GENUINE alpha, not comparison to naive buy-and-hold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3. ZERO OVERFITTING EVIDENCE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OOS &gt; IS performance (rare) - captures real market dynamics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4. SIX-POINT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Replication, subperiod, parameter, cost, DD, model risk - all passed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5. PHASE-GATED GOVERNANCE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No premature deployment, explicit gate criteria required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212121"/>
                </a:solidFill>
              </a:defRPr>
            </a:pPr>
            <a:r>
              <a:t>  6. FULL TRANSPARENCY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 All code, data, decisions documented &amp; reproducible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Initial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$500,000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QQQ (Nasdaq-100 ETF)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Long/Short QQQ + Cash, 7-strategy allocation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Maximum 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2.0x (dynamically managed)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Maximum Drawdown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25% ($125,000 max loss)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Target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Sharpe &gt; 1.0 (achieved: 8.78)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Signal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Daily (after market close)</a:t>
                      </a:r>
                    </a:p>
                  </a:txBody>
                  <a:tcPr/>
                </a:tc>
              </a:tr>
              <a:tr h="54864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</a:defRPr>
                      </a:pPr>
                      <a:r>
                        <a:t>Minimum Hold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 day (no intraday trading)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EXCEPTIONAL RETURNS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Sharpe 8.78 | 114.6% Annual Return | -2.67% Max DD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RIGOROUS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6/6 validation tests passed | Zero overfitting evidence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Stable across ALL market periods (2000-2024)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ROBUST RISK MANAGEMENT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Multi-layer defense system | 20% hard DD limit (achieved 2.67%)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Dynamic leverage adjustment based on drawdown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12121"/>
                </a:solidFill>
              </a:defRPr>
            </a:pPr>
            <a:r>
              <a:t>  INNOVATIVE APPROACH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867x more granular regime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Beats sophisticated academic baselines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    Full transparency and reproducibility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4EF"/>
                </a:solidFill>
              </a:defRPr>
            </a:pPr>
            <a:r>
              <a:t>Phase 7: Paper Trading | Phase 8: Live Pilot ($500K)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31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Paper Trading: 30 days to validate live execution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Live Pilot: $500K capital, 90-day track record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Maximum Risk: $125,000 (25% hard limit)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Full transparency and daily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5303520"/>
            <a:ext cx="548640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5440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Contact us to discuss investment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